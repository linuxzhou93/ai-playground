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开场说明：这是今晚用于家长和学员统一口径的行前会议。</a:t>
            </a:r>
          </a:p>
          <a:p>
            <a:r>
              <a:t>强调：既要顺利出行，也要把比赛准备和冲奖路径讲清楚。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77724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500" b="1">
                <a:solidFill>
                  <a:srgbClr val="111111"/>
                </a:solidFill>
                <a:latin typeface="PingFang SC"/>
              </a:rPr>
              <a:t>2026 韩国锦标赛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41732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22313F"/>
                </a:solidFill>
                <a:latin typeface="PingFang SC"/>
              </a:rPr>
              <a:t>家长与学员行前会议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2331720"/>
            <a:ext cx="2514600" cy="4572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7889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PingFang SC"/>
              </a:rPr>
              <a:t>7 月 5 日 20:00 线上会议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94760"/>
            <a:ext cx="6949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11111"/>
                </a:solidFill>
                <a:latin typeface="PingFang SC"/>
              </a:rPr>
              <a:t>目标：把出发、入境、比赛规则、冲奖策略、住宿和安全边界一次讲清楚。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458200" y="822960"/>
            <a:ext cx="2468880" cy="4389120"/>
          </a:xfrm>
          <a:prstGeom prst="rect">
            <a:avLst/>
          </a:prstGeom>
          <a:solidFill>
            <a:srgbClr val="F6F7F9"/>
          </a:solidFill>
          <a:ln w="10160">
            <a:solidFill>
              <a:srgbClr val="F6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42832" y="173736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900" b="1">
                <a:solidFill>
                  <a:srgbClr val="111111"/>
                </a:solidFill>
                <a:latin typeface="PingFang SC"/>
              </a:rPr>
              <a:t>30 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2743200"/>
            <a:ext cx="1463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2313F"/>
                </a:solidFill>
                <a:latin typeface="PingFang SC"/>
              </a:rPr>
              <a:t>讲清规则
确认资料
统一答疑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0807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PingFang SC"/>
              </a:rPr>
              <a:t>AI创无界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55555"/>
                </a:solidFill>
                <a:latin typeface="PingFang SC"/>
              </a:rPr>
              <a:t>会议目标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743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55555"/>
                </a:solidFill>
                <a:latin typeface="PingFang SC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21792"/>
            <a:ext cx="11292840" cy="5486"/>
          </a:xfrm>
          <a:prstGeom prst="rect">
            <a:avLst/>
          </a:prstGeom>
          <a:solidFill>
            <a:srgbClr val="C5C8CE"/>
          </a:solidFill>
          <a:ln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111"/>
                </a:solidFill>
                <a:latin typeface="PingFang SC"/>
              </a:rPr>
              <a:t>今晚解决三个问题：怎么走、怎么赛、怎么管安全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828800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PingFang SC"/>
              </a:rPr>
              <a:t>会议结束后，每个家庭都应该能按清单行动。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502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PingFang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2496312"/>
            <a:ext cx="96743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PingFang SC"/>
              </a:rPr>
              <a:t>顺利出发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2770632"/>
            <a:ext cx="96743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5555"/>
                </a:solidFill>
                <a:latin typeface="PingFang SC"/>
              </a:rPr>
              <a:t>证件、签证页、机票单、报名表、同意函、电池和行李要求逐项确认。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81328" y="3099815"/>
            <a:ext cx="9674352" cy="3657"/>
          </a:xfrm>
          <a:prstGeom prst="rect">
            <a:avLst/>
          </a:prstGeom>
          <a:solidFill>
            <a:srgbClr val="C5C8CE"/>
          </a:solidFill>
          <a:ln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172968"/>
            <a:ext cx="502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PingFang S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3154679"/>
            <a:ext cx="96743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PingFang SC"/>
              </a:rPr>
              <a:t>顺利比赛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429000"/>
            <a:ext cx="96743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5555"/>
                </a:solidFill>
                <a:latin typeface="PingFang SC"/>
              </a:rPr>
              <a:t>理解荣耀无界赛制、得分、裁判面试、奖项逻辑和现场执行节奏。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81328" y="3758183"/>
            <a:ext cx="9674352" cy="3657"/>
          </a:xfrm>
          <a:prstGeom prst="rect">
            <a:avLst/>
          </a:prstGeom>
          <a:solidFill>
            <a:srgbClr val="C5C8CE"/>
          </a:solidFill>
          <a:ln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831335"/>
            <a:ext cx="502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PingFang S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813048"/>
            <a:ext cx="96743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PingFang SC"/>
              </a:rPr>
              <a:t>冲击高奖项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4087368"/>
            <a:ext cx="96743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5555"/>
                </a:solidFill>
                <a:latin typeface="PingFang SC"/>
              </a:rPr>
              <a:t>以稳定得分、规则意识、工程表达和团队协作为核心，不靠临场冒险。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81328" y="4416551"/>
            <a:ext cx="9674352" cy="3657"/>
          </a:xfrm>
          <a:prstGeom prst="rect">
            <a:avLst/>
          </a:prstGeom>
          <a:solidFill>
            <a:srgbClr val="C5C8CE"/>
          </a:solidFill>
          <a:ln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489704"/>
            <a:ext cx="502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PingFang S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4471416"/>
            <a:ext cx="96743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PingFang SC"/>
              </a:rPr>
              <a:t>安全回来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745736"/>
            <a:ext cx="96743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5555"/>
                </a:solidFill>
                <a:latin typeface="PingFang SC"/>
              </a:rPr>
              <a:t>酒店、海滩、赛场、用餐、贵重物品和团队纪律都有明确边界。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55555"/>
                </a:solidFill>
                <a:latin typeface="PingFang SC"/>
              </a:rPr>
              <a:t>行程总览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743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55555"/>
                </a:solidFill>
                <a:latin typeface="PingFang SC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21792"/>
            <a:ext cx="11292840" cy="5486"/>
          </a:xfrm>
          <a:prstGeom prst="rect">
            <a:avLst/>
          </a:prstGeom>
          <a:solidFill>
            <a:srgbClr val="C5C8CE"/>
          </a:solidFill>
          <a:ln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111"/>
                </a:solidFill>
                <a:latin typeface="PingFang SC"/>
              </a:rPr>
              <a:t>行程主线：7 月 14 日出发，7 月 15 日比赛，7 月 19 日返程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828800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PingFang SC"/>
              </a:rPr>
              <a:t>比赛后安排松月洞童话村和仁川唐人街，最后一天因回程航班中午前往机场。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2743200"/>
            <a:ext cx="1417320" cy="1874519"/>
          </a:xfrm>
          <a:prstGeom prst="rect">
            <a:avLst/>
          </a:prstGeom>
          <a:solidFill>
            <a:srgbClr val="F6F7F9"/>
          </a:solidFill>
          <a:ln w="10160"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11111"/>
                </a:solidFill>
                <a:latin typeface="PingFang SC"/>
              </a:rPr>
              <a:t>7/14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611880"/>
            <a:ext cx="1143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313F"/>
                </a:solidFill>
                <a:latin typeface="PingFang SC"/>
              </a:rPr>
              <a:t>成都天府 T1
飞仁川
入住酒店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3744" y="2743200"/>
            <a:ext cx="1417320" cy="1874519"/>
          </a:xfrm>
          <a:prstGeom prst="rect">
            <a:avLst/>
          </a:prstGeom>
          <a:solidFill>
            <a:srgbClr val="FFF0EA"/>
          </a:solidFill>
          <a:ln w="1016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2971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6B35"/>
                </a:solidFill>
                <a:latin typeface="PingFang SC"/>
              </a:rPr>
              <a:t>7/15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60904" y="3611880"/>
            <a:ext cx="1143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2313F"/>
                </a:solidFill>
                <a:latin typeface="PingFang SC"/>
              </a:rPr>
              <a:t>延世大学
比赛日
赛后游览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25696" y="2743200"/>
            <a:ext cx="1417320" cy="1874519"/>
          </a:xfrm>
          <a:prstGeom prst="rect">
            <a:avLst/>
          </a:prstGeom>
          <a:solidFill>
            <a:srgbClr val="F6F7F9"/>
          </a:solidFill>
          <a:ln w="10160"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4" y="2971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11111"/>
                </a:solidFill>
                <a:latin typeface="PingFang SC"/>
              </a:rPr>
              <a:t>7/16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3611880"/>
            <a:ext cx="1143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313F"/>
                </a:solidFill>
                <a:latin typeface="PingFang SC"/>
              </a:rPr>
              <a:t>景福宫
三清洞
首尔塔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27648" y="2743200"/>
            <a:ext cx="1417320" cy="1874519"/>
          </a:xfrm>
          <a:prstGeom prst="rect">
            <a:avLst/>
          </a:prstGeom>
          <a:solidFill>
            <a:srgbClr val="F6F7F9"/>
          </a:solidFill>
          <a:ln w="10160"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2971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11111"/>
                </a:solidFill>
                <a:latin typeface="PingFang SC"/>
              </a:rPr>
              <a:t>7/17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3611880"/>
            <a:ext cx="1143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313F"/>
                </a:solidFill>
                <a:latin typeface="PingFang SC"/>
              </a:rPr>
              <a:t>乐天世界
全天活动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743200"/>
            <a:ext cx="1417320" cy="1874519"/>
          </a:xfrm>
          <a:prstGeom prst="rect">
            <a:avLst/>
          </a:prstGeom>
          <a:solidFill>
            <a:srgbClr val="F6F7F9"/>
          </a:solidFill>
          <a:ln w="10160"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0768" y="2971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11111"/>
                </a:solidFill>
                <a:latin typeface="PingFang SC"/>
              </a:rPr>
              <a:t>7/18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611880"/>
            <a:ext cx="1143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313F"/>
                </a:solidFill>
                <a:latin typeface="PingFang SC"/>
              </a:rPr>
              <a:t>现代汽车馆
首尔大学
三星/COEX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31552" y="2743200"/>
            <a:ext cx="1417320" cy="1874519"/>
          </a:xfrm>
          <a:prstGeom prst="rect">
            <a:avLst/>
          </a:prstGeom>
          <a:solidFill>
            <a:srgbClr val="F6F7F9"/>
          </a:solidFill>
          <a:ln w="10160"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32720" y="2971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11111"/>
                </a:solidFill>
                <a:latin typeface="PingFang SC"/>
              </a:rPr>
              <a:t>7/19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68712" y="3611880"/>
            <a:ext cx="1143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313F"/>
                </a:solidFill>
                <a:latin typeface="PingFang SC"/>
              </a:rPr>
              <a:t>仁川机场
返回成都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3492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PingFang SC"/>
              </a:rPr>
              <a:t>住宿：仁川 Sky &amp; Sea OceanView Hotel，全程同一酒店。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715000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PingFang SC"/>
              </a:rPr>
              <a:t>酒店地址：36 Eunhasu-ro 29beon-gil, 中区, 仁川。韩国比中国快 1 小时。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55555"/>
                </a:solidFill>
                <a:latin typeface="PingFang SC"/>
              </a:rPr>
              <a:t>比赛介绍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743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55555"/>
                </a:solidFill>
                <a:latin typeface="PingFang SC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21792"/>
            <a:ext cx="11292840" cy="5486"/>
          </a:xfrm>
          <a:prstGeom prst="rect">
            <a:avLst/>
          </a:prstGeom>
          <a:solidFill>
            <a:srgbClr val="C5C8CE"/>
          </a:solidFill>
          <a:ln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111"/>
                </a:solidFill>
                <a:latin typeface="PingFang SC"/>
              </a:rPr>
              <a:t>本次参赛项目：AI创无界“荣耀无界”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828800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PingFang SC"/>
              </a:rPr>
              <a:t>规则文件覆盖钻石组、星耀组、王者组；现场最终解释权归组委会。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743200"/>
            <a:ext cx="2240280" cy="2240280"/>
          </a:xfrm>
          <a:prstGeom prst="rect">
            <a:avLst/>
          </a:prstGeom>
          <a:solidFill>
            <a:srgbClr val="F6F7F9"/>
          </a:solidFill>
          <a:ln w="10160"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301752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11111"/>
                </a:solidFill>
                <a:latin typeface="PingFang SC"/>
              </a:rPr>
              <a:t>场地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703320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PingFang SC"/>
              </a:rPr>
              <a:t>2.4m × 2.4m 围栏场地，包含水晶果、种子、污染源、培育桩、三阶梯田、果树、仓库等道具。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2743200"/>
            <a:ext cx="2240280" cy="2240280"/>
          </a:xfrm>
          <a:prstGeom prst="rect">
            <a:avLst/>
          </a:prstGeom>
          <a:solidFill>
            <a:srgbClr val="F6F7F9"/>
          </a:solidFill>
          <a:ln w="10160"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301752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11111"/>
                </a:solidFill>
                <a:latin typeface="PingFang SC"/>
              </a:rPr>
              <a:t>队伍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703320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PingFang SC"/>
              </a:rPr>
              <a:t>钻石/星耀组每队 1-4 名；王者组每队 1-6 名。队员只能参加一支赛队。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91072" y="2743200"/>
            <a:ext cx="2240280" cy="2240280"/>
          </a:xfrm>
          <a:prstGeom prst="rect">
            <a:avLst/>
          </a:prstGeom>
          <a:solidFill>
            <a:srgbClr val="F6F7F9"/>
          </a:solidFill>
          <a:ln w="10160"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301752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11111"/>
                </a:solidFill>
                <a:latin typeface="PingFang SC"/>
              </a:rPr>
              <a:t>赛程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3703320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PingFang SC"/>
              </a:rPr>
              <a:t>通常含排位赛、决赛和可选技能赛；部分赛事可能按规模调整。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07424" y="2743200"/>
            <a:ext cx="2240280" cy="2240280"/>
          </a:xfrm>
          <a:prstGeom prst="rect">
            <a:avLst/>
          </a:prstGeom>
          <a:solidFill>
            <a:srgbClr val="FFF7F3"/>
          </a:solidFill>
          <a:ln w="1016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36024" y="301752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6B35"/>
                </a:solidFill>
                <a:latin typeface="PingFang SC"/>
              </a:rPr>
              <a:t>面试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36024" y="3703320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PingFang SC"/>
              </a:rPr>
              <a:t>可能设置裁判面试，需要工程笔记本，并围绕设计、策略、分工和表达提问。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532120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313F"/>
                </a:solidFill>
                <a:latin typeface="PingFang SC"/>
              </a:rPr>
              <a:t>家长要理解：比赛成绩来自机器人竞技 + 规则执行 + 工程表达，不只是一次跑分。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55555"/>
                </a:solidFill>
                <a:latin typeface="PingFang SC"/>
              </a:rPr>
              <a:t>比赛规则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743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55555"/>
                </a:solidFill>
                <a:latin typeface="PingFang SC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21792"/>
            <a:ext cx="11292840" cy="5486"/>
          </a:xfrm>
          <a:prstGeom prst="rect">
            <a:avLst/>
          </a:prstGeom>
          <a:solidFill>
            <a:srgbClr val="C5C8CE"/>
          </a:solidFill>
          <a:ln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111"/>
                </a:solidFill>
                <a:latin typeface="PingFang SC"/>
              </a:rPr>
              <a:t>规则里的几个硬约束，必须提前让孩子记住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828800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PingFang SC"/>
              </a:rPr>
              <a:t>这些是容易因为紧张或兴奋而犯错的地方。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35"/>
                </a:solidFill>
                <a:latin typeface="PingFang SC"/>
              </a:rP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2496312"/>
            <a:ext cx="9985248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111"/>
                </a:solidFill>
                <a:latin typeface="PingFang SC"/>
              </a:rPr>
              <a:t>比赛开始时机器人需只接触出发区，起始尺寸不超过 14 英寸 × 14 英寸 × 14 英寸。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53512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35"/>
                </a:solidFill>
                <a:latin typeface="PingFang SC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2935224"/>
            <a:ext cx="9985248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111"/>
                </a:solidFill>
                <a:latin typeface="PingFang SC"/>
              </a:rPr>
              <a:t>机器人通常限定 8 个马达；星耀/王者组规则中可最多使用 2 个主控器、2 块电池、2 个遥控器。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92424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35"/>
                </a:solidFill>
                <a:latin typeface="PingFang SC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3374136"/>
            <a:ext cx="9985248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111"/>
                </a:solidFill>
                <a:latin typeface="PingFang SC"/>
              </a:rPr>
              <a:t>比赛前要确认场地和元素位置；比赛开始后再提出异议通常不被支持。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31335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35"/>
                </a:solidFill>
                <a:latin typeface="PingFang SC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" y="3813048"/>
            <a:ext cx="9985248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111"/>
                </a:solidFill>
                <a:latin typeface="PingFang SC"/>
              </a:rPr>
              <a:t>比赛中不能擅自接触场地、机器人和比赛元素；需要帮助机器人时按规则举手等待裁判同意。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270248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35"/>
                </a:solidFill>
                <a:latin typeface="PingFang SC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" y="4251960"/>
            <a:ext cx="9985248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111"/>
                </a:solidFill>
                <a:latin typeface="PingFang SC"/>
              </a:rPr>
              <a:t>赛场可能有 ±3cm 场地误差，机器人和策略要能适应误差。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709160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35"/>
                </a:solidFill>
                <a:latin typeface="PingFang SC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" y="4690872"/>
            <a:ext cx="9985248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111"/>
                </a:solidFill>
                <a:latin typeface="PingFang SC"/>
              </a:rPr>
              <a:t>尊重裁判、对手和工作人员，不当言行可能影响比赛资格。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55555"/>
                </a:solidFill>
                <a:latin typeface="PingFang SC"/>
              </a:rPr>
              <a:t>赛制与得分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743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55555"/>
                </a:solidFill>
                <a:latin typeface="PingFang SC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21792"/>
            <a:ext cx="11292840" cy="5486"/>
          </a:xfrm>
          <a:prstGeom prst="rect">
            <a:avLst/>
          </a:prstGeom>
          <a:solidFill>
            <a:srgbClr val="C5C8CE"/>
          </a:solidFill>
          <a:ln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111"/>
                </a:solidFill>
                <a:latin typeface="PingFang SC"/>
              </a:rPr>
              <a:t>不同组别的比赛节奏不同，但核心都是稳定拿有效分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828800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PingFang SC"/>
              </a:rPr>
              <a:t>钻石组偏联队配合和高效取分；星耀/王者组增加自动时段要求。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697480"/>
            <a:ext cx="3337560" cy="2103120"/>
          </a:xfrm>
          <a:prstGeom prst="rect">
            <a:avLst/>
          </a:prstGeom>
          <a:solidFill>
            <a:srgbClr val="F6F7F9"/>
          </a:solidFill>
          <a:ln w="10160"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971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  <a:latin typeface="PingFang SC"/>
              </a:rPr>
              <a:t>钻石组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1188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PingFang SC"/>
              </a:rPr>
              <a:t>90 秒赛局；排位赛成绩由联队共享。重点是水晶果储存、种子种植、污染源清除、果树修剪。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25696" y="2697480"/>
            <a:ext cx="3337560" cy="2103120"/>
          </a:xfrm>
          <a:prstGeom prst="rect">
            <a:avLst/>
          </a:prstGeom>
          <a:solidFill>
            <a:srgbClr val="FFF7F3"/>
          </a:solidFill>
          <a:ln w="10160">
            <a:solidFill>
              <a:srgbClr val="F0B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971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B35"/>
                </a:solidFill>
                <a:latin typeface="PingFang SC"/>
              </a:rPr>
              <a:t>星耀组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61188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PingFang SC"/>
              </a:rPr>
              <a:t>90 秒赛局，20 秒自动 + 70 秒手动；自动任务每项 15 分。自动违规会影响自动任务得分。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697480"/>
            <a:ext cx="3337560" cy="2103120"/>
          </a:xfrm>
          <a:prstGeom prst="rect">
            <a:avLst/>
          </a:prstGeom>
          <a:solidFill>
            <a:srgbClr val="F6F7F9"/>
          </a:solidFill>
          <a:ln w="10160"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2971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  <a:latin typeface="PingFang SC"/>
              </a:rPr>
              <a:t>王者组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361188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PingFang SC"/>
              </a:rPr>
              <a:t>红蓝联队对抗，有获胜分、自动获胜分、实力分等排名依据；围困、纠缠、恶意攻击都有处罚边界。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44068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313F"/>
                </a:solidFill>
                <a:latin typeface="PingFang SC"/>
              </a:rPr>
              <a:t>共同得分关键词：水晶果、种子、污染源、梯田、仓库、自动任务、果树修剪。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55555"/>
                </a:solidFill>
                <a:latin typeface="PingFang SC"/>
              </a:rPr>
              <a:t>奖项逻辑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743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55555"/>
                </a:solidFill>
                <a:latin typeface="PingFang SC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21792"/>
            <a:ext cx="11292840" cy="5486"/>
          </a:xfrm>
          <a:prstGeom prst="rect">
            <a:avLst/>
          </a:prstGeom>
          <a:solidFill>
            <a:srgbClr val="C5C8CE"/>
          </a:solidFill>
          <a:ln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111"/>
                </a:solidFill>
                <a:latin typeface="PingFang SC"/>
              </a:rPr>
              <a:t>一等奖和冠军怎么产生：排名、决赛和比例共同决定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828800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PingFang SC"/>
              </a:rPr>
              <a:t>我们冲奖要尊重赛制，不把“目标”说成“承诺”。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502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PingFang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2404872"/>
            <a:ext cx="96743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PingFang SC"/>
              </a:rPr>
              <a:t>排名依据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2679191"/>
            <a:ext cx="96743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5555"/>
                </a:solidFill>
                <a:latin typeface="PingFang SC"/>
              </a:rPr>
              <a:t>排位赛通常决定基础排名；王者组第一依据为获胜分，钻石/星耀组以规则对应方式排名。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81328" y="2935224"/>
            <a:ext cx="9674352" cy="3657"/>
          </a:xfrm>
          <a:prstGeom prst="rect">
            <a:avLst/>
          </a:prstGeom>
          <a:solidFill>
            <a:srgbClr val="C5C8CE"/>
          </a:solidFill>
          <a:ln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008376"/>
            <a:ext cx="502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PingFang S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990088"/>
            <a:ext cx="96743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PingFang SC"/>
              </a:rPr>
              <a:t>冠亚季军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264408"/>
            <a:ext cx="96743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5555"/>
                </a:solidFill>
                <a:latin typeface="PingFang SC"/>
              </a:rPr>
              <a:t>冠亚季军由决赛排名确定；赛事规模不同，可能调整决赛或以技能赛方式排名。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81328" y="3520440"/>
            <a:ext cx="9674352" cy="3657"/>
          </a:xfrm>
          <a:prstGeom prst="rect">
            <a:avLst/>
          </a:prstGeom>
          <a:solidFill>
            <a:srgbClr val="C5C8CE"/>
          </a:solidFill>
          <a:ln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593591"/>
            <a:ext cx="502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PingFang S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575303"/>
            <a:ext cx="96743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PingFang SC"/>
              </a:rPr>
              <a:t>一二三等奖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849624"/>
            <a:ext cx="96743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5555"/>
                </a:solidFill>
                <a:latin typeface="PingFang SC"/>
              </a:rPr>
              <a:t>冠亚季军优先评选一二三等奖，其他队伍按排位赛总排名及赛事比例评定。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81328" y="4105655"/>
            <a:ext cx="9674352" cy="3657"/>
          </a:xfrm>
          <a:prstGeom prst="rect">
            <a:avLst/>
          </a:prstGeom>
          <a:solidFill>
            <a:srgbClr val="C5C8CE"/>
          </a:solidFill>
          <a:ln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178808"/>
            <a:ext cx="502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PingFang S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4160520"/>
            <a:ext cx="96743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PingFang SC"/>
              </a:rPr>
              <a:t>单项奖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434840"/>
            <a:ext cx="96743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5555"/>
                </a:solidFill>
                <a:latin typeface="PingFang SC"/>
              </a:rPr>
              <a:t>最佳程序、最佳设计、最佳创新、全能奖依赖裁判面试、工程笔记和特定条件。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81328" y="4690872"/>
            <a:ext cx="9674352" cy="3657"/>
          </a:xfrm>
          <a:prstGeom prst="rect">
            <a:avLst/>
          </a:prstGeom>
          <a:solidFill>
            <a:srgbClr val="C5C8CE"/>
          </a:solidFill>
          <a:ln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764024"/>
            <a:ext cx="502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PingFang SC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745736"/>
            <a:ext cx="96743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PingFang SC"/>
              </a:rPr>
              <a:t>边界口径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5020056"/>
            <a:ext cx="96743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5555"/>
                </a:solidFill>
                <a:latin typeface="PingFang SC"/>
              </a:rPr>
              <a:t>组织方不承诺具体成绩、证书等级或第三方评价结果，但会按冲高奖目标备赛和执行。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55555"/>
                </a:solidFill>
                <a:latin typeface="PingFang SC"/>
              </a:rPr>
              <a:t>冲奖策略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743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55555"/>
                </a:solidFill>
                <a:latin typeface="PingFang SC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21792"/>
            <a:ext cx="11292840" cy="5486"/>
          </a:xfrm>
          <a:prstGeom prst="rect">
            <a:avLst/>
          </a:prstGeom>
          <a:solidFill>
            <a:srgbClr val="C5C8CE"/>
          </a:solidFill>
          <a:ln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111"/>
                </a:solidFill>
                <a:latin typeface="PingFang SC"/>
              </a:rPr>
              <a:t>冲击冠军和一等奖，我们按“五条线”推进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828800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PingFang SC"/>
              </a:rPr>
              <a:t>目标不是给孩子压力，而是把可控环节做到稳定、可复盘、可执行。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502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PingFang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2404872"/>
            <a:ext cx="96743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PingFang SC"/>
              </a:rPr>
              <a:t>规则线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2679191"/>
            <a:ext cx="96743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5555"/>
                </a:solidFill>
                <a:latin typeface="PingFang SC"/>
              </a:rPr>
              <a:t>赛前讲清得分、违规、申诉、裁判口径；不确定的内容现场先问清楚。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81328" y="2935224"/>
            <a:ext cx="9674352" cy="3657"/>
          </a:xfrm>
          <a:prstGeom prst="rect">
            <a:avLst/>
          </a:prstGeom>
          <a:solidFill>
            <a:srgbClr val="C5C8CE"/>
          </a:solidFill>
          <a:ln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008376"/>
            <a:ext cx="502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PingFang S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990088"/>
            <a:ext cx="96743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PingFang SC"/>
              </a:rPr>
              <a:t>技术线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264408"/>
            <a:ext cx="96743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5555"/>
                </a:solidFill>
                <a:latin typeface="PingFang SC"/>
              </a:rPr>
              <a:t>先保证基础任务成功率，再加高分动作；自动程序追求稳定可靠。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81328" y="3520440"/>
            <a:ext cx="9674352" cy="3657"/>
          </a:xfrm>
          <a:prstGeom prst="rect">
            <a:avLst/>
          </a:prstGeom>
          <a:solidFill>
            <a:srgbClr val="C5C8CE"/>
          </a:solidFill>
          <a:ln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593591"/>
            <a:ext cx="502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PingFang S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575303"/>
            <a:ext cx="96743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PingFang SC"/>
              </a:rPr>
              <a:t>分工线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849624"/>
            <a:ext cx="96743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5555"/>
                </a:solidFill>
                <a:latin typeface="PingFang SC"/>
              </a:rPr>
              <a:t>操作、调试、记录、沟通、物料管理、工程表达都有负责人。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81328" y="4105655"/>
            <a:ext cx="9674352" cy="3657"/>
          </a:xfrm>
          <a:prstGeom prst="rect">
            <a:avLst/>
          </a:prstGeom>
          <a:solidFill>
            <a:srgbClr val="C5C8CE"/>
          </a:solidFill>
          <a:ln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178808"/>
            <a:ext cx="502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PingFang S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4160520"/>
            <a:ext cx="96743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PingFang SC"/>
              </a:rPr>
              <a:t>面试线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434840"/>
            <a:ext cx="96743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5555"/>
                </a:solidFill>
                <a:latin typeface="PingFang SC"/>
              </a:rPr>
              <a:t>准备工程笔记本、设计思路、策略说明、团队贡献和必要英文表达。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81328" y="4690872"/>
            <a:ext cx="9674352" cy="3657"/>
          </a:xfrm>
          <a:prstGeom prst="rect">
            <a:avLst/>
          </a:prstGeom>
          <a:solidFill>
            <a:srgbClr val="C5C8CE"/>
          </a:solidFill>
          <a:ln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764024"/>
            <a:ext cx="502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PingFang SC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745736"/>
            <a:ext cx="96743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PingFang SC"/>
              </a:rPr>
              <a:t>心态线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5020056"/>
            <a:ext cx="96743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5555"/>
                </a:solidFill>
                <a:latin typeface="PingFang SC"/>
              </a:rPr>
              <a:t>每轮赛后复盘，不互相抱怨；把失误变成下一轮调整输入。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55555"/>
                </a:solidFill>
                <a:latin typeface="PingFang SC"/>
              </a:rPr>
              <a:t>现场执行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743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55555"/>
                </a:solidFill>
                <a:latin typeface="PingFang SC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21792"/>
            <a:ext cx="11292840" cy="5486"/>
          </a:xfrm>
          <a:prstGeom prst="rect">
            <a:avLst/>
          </a:prstGeom>
          <a:solidFill>
            <a:srgbClr val="C5C8CE"/>
          </a:solidFill>
          <a:ln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111"/>
                </a:solidFill>
                <a:latin typeface="PingFang SC"/>
              </a:rPr>
              <a:t>比赛当天按“检查、执行、复盘、沟通”循环推进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828800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PingFang SC"/>
              </a:rPr>
              <a:t>每一轮都要让下一轮更稳，而不是只盯当轮结果。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788920"/>
            <a:ext cx="2240280" cy="2057400"/>
          </a:xfrm>
          <a:prstGeom prst="rect">
            <a:avLst/>
          </a:prstGeom>
          <a:solidFill>
            <a:srgbClr val="F6F7F9"/>
          </a:solidFill>
          <a:ln w="10160"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0632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PingFang SC"/>
              </a:rPr>
              <a:t>赛前检查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0332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PingFang SC"/>
              </a:rPr>
              <a:t>电量、结构、程序、备件、队员状态，按固定清单确认。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2788920"/>
            <a:ext cx="2240280" cy="2057400"/>
          </a:xfrm>
          <a:prstGeom prst="rect">
            <a:avLst/>
          </a:prstGeom>
          <a:solidFill>
            <a:srgbClr val="F6F7F9"/>
          </a:solidFill>
          <a:ln w="10160"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30175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0632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PingFang SC"/>
              </a:rPr>
              <a:t>赛中执行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70332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PingFang SC"/>
              </a:rPr>
              <a:t>按既定策略完成任务，临场变化由队内统一判断。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2788920"/>
            <a:ext cx="2240280" cy="2057400"/>
          </a:xfrm>
          <a:prstGeom prst="rect">
            <a:avLst/>
          </a:prstGeom>
          <a:solidFill>
            <a:srgbClr val="F6F7F9"/>
          </a:solidFill>
          <a:ln w="10160"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175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PingFang S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0632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PingFang SC"/>
              </a:rPr>
              <a:t>赛后复盘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70332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PingFang SC"/>
              </a:rPr>
              <a:t>记录得分、失误、故障点和裁判反馈，马上决定下一轮调整。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2788920"/>
            <a:ext cx="2240280" cy="2057400"/>
          </a:xfrm>
          <a:prstGeom prst="rect">
            <a:avLst/>
          </a:prstGeom>
          <a:solidFill>
            <a:srgbClr val="FFF0EA"/>
          </a:solidFill>
          <a:ln w="1016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30175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PingFang S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30632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PingFang SC"/>
              </a:rPr>
              <a:t>家长配合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70332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PingFang SC"/>
              </a:rPr>
              <a:t>比赛期间减少临场干预，建议和提醒统一交给带队老师。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55555"/>
                </a:solidFill>
                <a:latin typeface="PingFang SC"/>
              </a:rPr>
              <a:t>航班与机场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743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55555"/>
                </a:solidFill>
                <a:latin typeface="PingFang SC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21792"/>
            <a:ext cx="11292840" cy="5486"/>
          </a:xfrm>
          <a:prstGeom prst="rect">
            <a:avLst/>
          </a:prstGeom>
          <a:solidFill>
            <a:srgbClr val="C5C8CE"/>
          </a:solidFill>
          <a:ln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111"/>
                </a:solidFill>
                <a:latin typeface="PingFang SC"/>
              </a:rPr>
              <a:t>机场集合按国际航班标准执行，提前 3 小时到达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828800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PingFang SC"/>
              </a:rPr>
              <a:t>旅行社已为 23 人统一选座，最终以航司值机结果为准。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697480"/>
            <a:ext cx="4800600" cy="1645920"/>
          </a:xfrm>
          <a:prstGeom prst="rect">
            <a:avLst/>
          </a:prstGeom>
          <a:solidFill>
            <a:srgbClr val="F6F7F9"/>
          </a:solidFill>
          <a:ln w="10160"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35"/>
                </a:solidFill>
                <a:latin typeface="PingFang SC"/>
              </a:rPr>
              <a:t>去程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56432"/>
            <a:ext cx="3749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PingFang SC"/>
              </a:rPr>
              <a:t>7 月 14 日 CA401
成都天府 T1 → 仁川 T1
08:20 起飞  12:55 抵达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697480"/>
            <a:ext cx="4800600" cy="1645920"/>
          </a:xfrm>
          <a:prstGeom prst="rect">
            <a:avLst/>
          </a:prstGeom>
          <a:solidFill>
            <a:srgbClr val="F6F7F9"/>
          </a:solidFill>
          <a:ln w="10160"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2971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F6BFF"/>
                </a:solidFill>
                <a:latin typeface="PingFang SC"/>
              </a:rPr>
              <a:t>回程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456432"/>
            <a:ext cx="3749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PingFang SC"/>
              </a:rPr>
              <a:t>7 月 19 日 CA402
仁川 T1 → 成都天府 T1
14:55 起飞  17:55 抵达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800600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PingFang SC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" y="4782312"/>
            <a:ext cx="99852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PingFang SC"/>
              </a:rPr>
              <a:t>成都天府机场 T1，中国国航 CA 对应值机区，柜台以当天机场大屏为准。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129784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PingFang SC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" y="5111496"/>
            <a:ext cx="99852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PingFang SC"/>
              </a:rPr>
              <a:t>行李参考：托运 1 件 23kg，手提 1 件 7kg，以航司实际要求为准。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458968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PingFang SC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" y="5440680"/>
            <a:ext cx="99852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111"/>
                </a:solidFill>
                <a:latin typeface="PingFang SC"/>
              </a:rPr>
              <a:t>如遇航班延误，及时同步后勤工作人员。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55555"/>
                </a:solidFill>
                <a:latin typeface="PingFang SC"/>
              </a:rPr>
              <a:t>资料清单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743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55555"/>
                </a:solidFill>
                <a:latin typeface="PingFang SC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21792"/>
            <a:ext cx="11292840" cy="5486"/>
          </a:xfrm>
          <a:prstGeom prst="rect">
            <a:avLst/>
          </a:prstGeom>
          <a:solidFill>
            <a:srgbClr val="C5C8CE"/>
          </a:solidFill>
          <a:ln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111"/>
                </a:solidFill>
                <a:latin typeface="PingFang SC"/>
              </a:rPr>
              <a:t>出发资料今晚就装进随身包，缺一项都可能影响通关或参赛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828800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PingFang SC"/>
              </a:rPr>
              <a:t>证件和申报材料不要放托运行李，必须随身携带。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514600"/>
            <a:ext cx="5074920" cy="2743200"/>
          </a:xfrm>
          <a:prstGeom prst="rect">
            <a:avLst/>
          </a:prstGeom>
          <a:solidFill>
            <a:srgbClr val="F6F7F9"/>
          </a:solidFill>
          <a:ln w="10160"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PingFang SC"/>
              </a:rPr>
              <a:t>基础证件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4895A"/>
                </a:solidFill>
                <a:latin typeface="PingFang SC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3319272"/>
            <a:ext cx="39044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11111"/>
                </a:solidFill>
                <a:latin typeface="PingFang SC"/>
              </a:rPr>
              <a:t>护照原件、身份证原件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21608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4895A"/>
                </a:solidFill>
                <a:latin typeface="PingFang SC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3703320"/>
            <a:ext cx="39044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11111"/>
                </a:solidFill>
                <a:latin typeface="PingFang SC"/>
              </a:rPr>
              <a:t>港澳台及其他护照另备有效证件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105656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4895A"/>
                </a:solidFill>
                <a:latin typeface="PingFang SC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4087368"/>
            <a:ext cx="39044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11111"/>
                </a:solidFill>
                <a:latin typeface="PingFang SC"/>
              </a:rPr>
              <a:t>往返机票单：每人一份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89704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4895A"/>
                </a:solidFill>
                <a:latin typeface="PingFang SC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4471416"/>
            <a:ext cx="39044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11111"/>
                </a:solidFill>
                <a:latin typeface="PingFang SC"/>
              </a:rPr>
              <a:t>韩国签证页：出发前 2-3 天补发后打印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2514600"/>
            <a:ext cx="5074920" cy="2743200"/>
          </a:xfrm>
          <a:prstGeom prst="rect">
            <a:avLst/>
          </a:prstGeom>
          <a:solidFill>
            <a:srgbClr val="FFF7F3"/>
          </a:solidFill>
          <a:ln w="10160">
            <a:solidFill>
              <a:srgbClr val="F0B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2788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313F"/>
                </a:solidFill>
                <a:latin typeface="PingFang SC"/>
              </a:rPr>
              <a:t>参赛与未成年材料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291840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FF6B35"/>
                </a:solidFill>
                <a:latin typeface="PingFang SC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2592" y="3273552"/>
            <a:ext cx="399592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111111"/>
                </a:solidFill>
                <a:latin typeface="PingFang SC"/>
              </a:rPr>
              <a:t>大赛官网报名表：每位选手打印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685032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FF6B35"/>
                </a:solidFill>
                <a:latin typeface="PingFang SC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3666744"/>
            <a:ext cx="399592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111111"/>
                </a:solidFill>
                <a:latin typeface="PingFang SC"/>
              </a:rPr>
              <a:t>不随行父母同意函：父母未陪同的未成年人随身携带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078224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FF6B35"/>
                </a:solidFill>
                <a:latin typeface="PingFang SC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2592" y="4059936"/>
            <a:ext cx="399592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111111"/>
                </a:solidFill>
                <a:latin typeface="PingFang SC"/>
              </a:rPr>
              <a:t>入境申报和健康申报码/二维码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471416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FF6B35"/>
                </a:solidFill>
                <a:latin typeface="PingFang SC"/>
              </a:rPr>
              <a:t>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2592" y="4453128"/>
            <a:ext cx="399592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111111"/>
                </a:solidFill>
                <a:latin typeface="PingFang SC"/>
              </a:rPr>
              <a:t>常用药、紧急联系人、特殊情况说明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55555"/>
                </a:solidFill>
                <a:latin typeface="PingFang SC"/>
              </a:rPr>
              <a:t>设备与电池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743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55555"/>
                </a:solidFill>
                <a:latin typeface="PingFang SC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21792"/>
            <a:ext cx="11292840" cy="5486"/>
          </a:xfrm>
          <a:prstGeom prst="rect">
            <a:avLst/>
          </a:prstGeom>
          <a:solidFill>
            <a:srgbClr val="C5C8CE"/>
          </a:solidFill>
          <a:ln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111"/>
                </a:solidFill>
                <a:latin typeface="PingFang SC"/>
              </a:rPr>
              <a:t>比赛电池必须随身分散携带，不能托运，也不能集中在一个人身上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828800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PingFang SC"/>
              </a:rPr>
              <a:t>这是机场安检和出入境环节最容易出问题的事项之一。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651760"/>
            <a:ext cx="10652760" cy="658368"/>
          </a:xfrm>
          <a:prstGeom prst="rect">
            <a:avLst/>
          </a:prstGeom>
          <a:solidFill>
            <a:srgbClr val="FFF0EA"/>
          </a:solidFill>
          <a:ln w="1016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852928"/>
            <a:ext cx="9966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7392F"/>
                </a:solidFill>
                <a:latin typeface="PingFang SC"/>
              </a:rPr>
              <a:t>建议每人分开携带 3-4 块比赛用电池；严禁一个人集中携带全队电池。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49039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PingFang SC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3730752"/>
            <a:ext cx="998524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111"/>
                </a:solidFill>
                <a:latin typeface="PingFang SC"/>
              </a:rPr>
              <a:t>比赛用电池、充电宝等不要托运，过安检时按要求单独检查。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142231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PingFang SC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4123944"/>
            <a:ext cx="998524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111"/>
                </a:solidFill>
                <a:latin typeface="PingFang SC"/>
              </a:rPr>
              <a:t>充电宝需有清晰 3C 标识和额定能量标识。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535424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PingFang SC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" y="4517136"/>
            <a:ext cx="998524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111"/>
                </a:solidFill>
                <a:latin typeface="PingFang SC"/>
              </a:rPr>
              <a:t>设备装箱前确认机器人、零件、工具、备用件、线材、充电器、适配器。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928616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PingFang SC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" y="4910328"/>
            <a:ext cx="998524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111"/>
                </a:solidFill>
                <a:latin typeface="PingFang SC"/>
              </a:rPr>
              <a:t>锋利工具、液体、胶类等按航空规定处理。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55555"/>
                </a:solidFill>
                <a:latin typeface="PingFang SC"/>
              </a:rPr>
              <a:t>韩国入境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743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55555"/>
                </a:solidFill>
                <a:latin typeface="PingFang SC"/>
              </a:rP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21792"/>
            <a:ext cx="11292840" cy="5486"/>
          </a:xfrm>
          <a:prstGeom prst="rect">
            <a:avLst/>
          </a:prstGeom>
          <a:solidFill>
            <a:srgbClr val="C5C8CE"/>
          </a:solidFill>
          <a:ln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111"/>
                </a:solidFill>
                <a:latin typeface="PingFang SC"/>
              </a:rPr>
              <a:t>入境前 3 天完成申报，到达后按流程通关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828800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PingFang SC"/>
              </a:rPr>
              <a:t>晓君老师提示：老师可同时添加多位学生，后续按群内操作指引执行。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743200"/>
            <a:ext cx="2148840" cy="1920240"/>
          </a:xfrm>
          <a:prstGeom prst="rect">
            <a:avLst/>
          </a:prstGeom>
          <a:solidFill>
            <a:srgbClr val="FFF7F3"/>
          </a:solidFill>
          <a:ln w="1016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9718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017520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PingFang SC"/>
              </a:rPr>
              <a:t>提前填写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70332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555555"/>
                </a:solidFill>
                <a:latin typeface="PingFang SC"/>
              </a:rPr>
              <a:t>入境申报和健康申报，截图保存二维码。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39" y="2743200"/>
            <a:ext cx="2148840" cy="1920240"/>
          </a:xfrm>
          <a:prstGeom prst="rect">
            <a:avLst/>
          </a:prstGeom>
          <a:solidFill>
            <a:srgbClr val="F6F7F9"/>
          </a:solidFill>
          <a:ln w="10160"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29718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017520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PingFang SC"/>
              </a:rPr>
              <a:t>检疫通道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70332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555555"/>
                </a:solidFill>
                <a:latin typeface="PingFang SC"/>
              </a:rPr>
              <a:t>下机后按 Arrivals 指示，先经过检疫。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59" y="2743200"/>
            <a:ext cx="2148840" cy="1920240"/>
          </a:xfrm>
          <a:prstGeom prst="rect">
            <a:avLst/>
          </a:prstGeom>
          <a:solidFill>
            <a:srgbClr val="F6F7F9"/>
          </a:solidFill>
          <a:ln w="10160"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59" y="29718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PingFang S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3017520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PingFang SC"/>
              </a:rPr>
              <a:t>边检审查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370332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555555"/>
                </a:solidFill>
                <a:latin typeface="PingFang SC"/>
              </a:rPr>
              <a:t>出示护照、签证页，按要求录指纹和拍照。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2743200"/>
            <a:ext cx="2148840" cy="1920240"/>
          </a:xfrm>
          <a:prstGeom prst="rect">
            <a:avLst/>
          </a:prstGeom>
          <a:solidFill>
            <a:srgbClr val="F6F7F9"/>
          </a:solidFill>
          <a:ln w="10160"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29718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35"/>
                </a:solidFill>
                <a:latin typeface="PingFang S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3017520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PingFang SC"/>
              </a:rPr>
              <a:t>取行李入境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70332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555555"/>
                </a:solidFill>
                <a:latin typeface="PingFang SC"/>
              </a:rPr>
              <a:t>提取行李后过海关，有申报物品按规定申报。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166360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7392F"/>
                </a:solidFill>
                <a:latin typeface="PingFang SC"/>
              </a:rPr>
              <a:t>不能携带新鲜蔬果、肉类等入境；现金超过规定额度需申报。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53212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PingFang SC"/>
              </a:rPr>
              <a:t>填写酒店：Sky &amp; Sea OceanView Hotel，36 Eunhasu-ro 29beon-gil, 中区, 仁川。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55555"/>
                </a:solidFill>
                <a:latin typeface="PingFang SC"/>
              </a:rPr>
              <a:t>旅行社补充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743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55555"/>
                </a:solidFill>
                <a:latin typeface="PingFang SC"/>
              </a:rP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21792"/>
            <a:ext cx="11292840" cy="5486"/>
          </a:xfrm>
          <a:prstGeom prst="rect">
            <a:avLst/>
          </a:prstGeom>
          <a:solidFill>
            <a:srgbClr val="C5C8CE"/>
          </a:solidFill>
          <a:ln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111"/>
                </a:solidFill>
                <a:latin typeface="PingFang SC"/>
              </a:rPr>
              <a:t>旅行社补充确认：这些事项会中统一口径说明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828800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PingFang SC"/>
              </a:rPr>
              <a:t>来自晓君老师近期沟通和相关文件。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502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PingFang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2496312"/>
            <a:ext cx="96743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PingFang SC"/>
              </a:rPr>
              <a:t>签证页节奏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2770632"/>
            <a:ext cx="96743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5555"/>
                </a:solidFill>
                <a:latin typeface="PingFang SC"/>
              </a:rPr>
              <a:t>目前还差签证页，旅行社预计出发前 2-3 天发给老师，再统一提醒打印。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81328" y="3099815"/>
            <a:ext cx="9674352" cy="3657"/>
          </a:xfrm>
          <a:prstGeom prst="rect">
            <a:avLst/>
          </a:prstGeom>
          <a:solidFill>
            <a:srgbClr val="C5C8CE"/>
          </a:solidFill>
          <a:ln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172968"/>
            <a:ext cx="502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PingFang S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3154679"/>
            <a:ext cx="96743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PingFang SC"/>
              </a:rPr>
              <a:t>团队座位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429000"/>
            <a:ext cx="96743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5555"/>
                </a:solidFill>
                <a:latin typeface="PingFang SC"/>
              </a:rPr>
              <a:t>旅行社已为 23 人选择座位，尽量保证团队坐在一起，最终以航司实际值机为准。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81328" y="3758183"/>
            <a:ext cx="9674352" cy="3657"/>
          </a:xfrm>
          <a:prstGeom prst="rect">
            <a:avLst/>
          </a:prstGeom>
          <a:solidFill>
            <a:srgbClr val="C5C8CE"/>
          </a:solidFill>
          <a:ln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831335"/>
            <a:ext cx="502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PingFang S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813048"/>
            <a:ext cx="96743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PingFang SC"/>
              </a:rPr>
              <a:t>行程调整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4087368"/>
            <a:ext cx="96743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5555"/>
                </a:solidFill>
                <a:latin typeface="PingFang SC"/>
              </a:rPr>
              <a:t>松月洞童话村和仁川唐人街因回程中午去机场，调整到比赛后游览。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81328" y="4416551"/>
            <a:ext cx="9674352" cy="3657"/>
          </a:xfrm>
          <a:prstGeom prst="rect">
            <a:avLst/>
          </a:prstGeom>
          <a:solidFill>
            <a:srgbClr val="C5C8CE"/>
          </a:solidFill>
          <a:ln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489704"/>
            <a:ext cx="502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PingFang S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4471416"/>
            <a:ext cx="96743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PingFang SC"/>
              </a:rPr>
              <a:t>分房与住宿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745736"/>
            <a:ext cx="96743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5555"/>
                </a:solidFill>
                <a:latin typeface="PingFang SC"/>
              </a:rPr>
              <a:t>团队全程入住仁川 Sky &amp; Sea OceanView Hotel；此前文件显示 23 人、12 间双人房安排。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55555"/>
                </a:solidFill>
                <a:latin typeface="PingFang SC"/>
              </a:rPr>
              <a:t>酒店与生活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743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55555"/>
                </a:solidFill>
                <a:latin typeface="PingFang SC"/>
              </a:rPr>
              <a:t>15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21792"/>
            <a:ext cx="11292840" cy="5486"/>
          </a:xfrm>
          <a:prstGeom prst="rect">
            <a:avLst/>
          </a:prstGeom>
          <a:solidFill>
            <a:srgbClr val="C5C8CE"/>
          </a:solidFill>
          <a:ln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111"/>
                </a:solidFill>
                <a:latin typeface="PingFang SC"/>
              </a:rPr>
              <a:t>酒店生活用品要自备，回酒店后不允许孩子自行离开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828800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PingFang SC"/>
              </a:rPr>
              <a:t>酒店附近有海滩，安全边界必须提前讲清楚。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51760"/>
            <a:ext cx="3246120" cy="2514600"/>
          </a:xfrm>
          <a:prstGeom prst="rect">
            <a:avLst/>
          </a:prstGeom>
          <a:solidFill>
            <a:srgbClr val="F6F7F9"/>
          </a:solidFill>
          <a:ln w="10160"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9260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895A"/>
                </a:solidFill>
                <a:latin typeface="PingFang SC"/>
              </a:rPr>
              <a:t>自备用品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520440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4895A"/>
                </a:solidFill>
                <a:latin typeface="PingFang SC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7592" y="3502152"/>
            <a:ext cx="21671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11111"/>
                </a:solidFill>
                <a:latin typeface="PingFang SC"/>
              </a:rPr>
              <a:t>牙刷牙膏等洗漱用品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867912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4895A"/>
                </a:solidFill>
                <a:latin typeface="PingFang SC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3849624"/>
            <a:ext cx="21671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11111"/>
                </a:solidFill>
                <a:latin typeface="PingFang SC"/>
              </a:rPr>
              <a:t>拖鞋、水壶、防晒用品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215384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4895A"/>
                </a:solidFill>
                <a:latin typeface="PingFang SC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07592" y="4197096"/>
            <a:ext cx="21671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11111"/>
                </a:solidFill>
                <a:latin typeface="PingFang SC"/>
              </a:rPr>
              <a:t>个人常用药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562856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4895A"/>
                </a:solidFill>
                <a:latin typeface="PingFang SC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7592" y="4544568"/>
            <a:ext cx="21671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11111"/>
                </a:solidFill>
                <a:latin typeface="PingFang SC"/>
              </a:rPr>
              <a:t>欧式两脚圆插头转换器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59" y="2651760"/>
            <a:ext cx="3246120" cy="2514600"/>
          </a:xfrm>
          <a:prstGeom prst="rect">
            <a:avLst/>
          </a:prstGeom>
          <a:solidFill>
            <a:srgbClr val="F6F7F9"/>
          </a:solidFill>
          <a:ln w="10160"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599" y="29260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F6BFF"/>
                </a:solidFill>
                <a:latin typeface="PingFang SC"/>
              </a:rPr>
              <a:t>酒店提醒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599" y="3520440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2F6BFF"/>
                </a:solidFill>
                <a:latin typeface="PingFang SC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6631" y="3502152"/>
            <a:ext cx="21671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11111"/>
                </a:solidFill>
                <a:latin typeface="PingFang SC"/>
              </a:rPr>
              <a:t>不误开收费电视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599" y="3867912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2F6BFF"/>
                </a:solidFill>
                <a:latin typeface="PingFang SC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6631" y="3849624"/>
            <a:ext cx="21671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11111"/>
                </a:solidFill>
                <a:latin typeface="PingFang SC"/>
              </a:rPr>
              <a:t>不食用收费冰箱饮品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599" y="4215384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2F6BFF"/>
                </a:solidFill>
                <a:latin typeface="PingFang SC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56631" y="4197096"/>
            <a:ext cx="21671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11111"/>
                </a:solidFill>
                <a:latin typeface="PingFang SC"/>
              </a:rPr>
              <a:t>贵重物品随身保管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599" y="4562856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2F6BFF"/>
                </a:solidFill>
                <a:latin typeface="PingFang SC"/>
              </a:rPr>
              <a:t>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56631" y="4544568"/>
            <a:ext cx="21671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11111"/>
                </a:solidFill>
                <a:latin typeface="PingFang SC"/>
              </a:rPr>
              <a:t>护照是最重要证件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2651760"/>
            <a:ext cx="3246120" cy="2514600"/>
          </a:xfrm>
          <a:prstGeom prst="rect">
            <a:avLst/>
          </a:prstGeom>
          <a:solidFill>
            <a:srgbClr val="FFF0EA"/>
          </a:solidFill>
          <a:ln w="1016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29260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7392F"/>
                </a:solidFill>
                <a:latin typeface="PingFang SC"/>
              </a:rPr>
              <a:t>安全边界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3520440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C7392F"/>
                </a:solidFill>
                <a:latin typeface="PingFang SC"/>
              </a:rPr>
              <a:t>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05672" y="3502152"/>
            <a:ext cx="21671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11111"/>
                </a:solidFill>
                <a:latin typeface="PingFang SC"/>
              </a:rPr>
              <a:t>回酒店后不得自行外出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3867912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C7392F"/>
                </a:solidFill>
                <a:latin typeface="PingFang SC"/>
              </a:rPr>
              <a:t>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05672" y="3849624"/>
            <a:ext cx="21671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11111"/>
                </a:solidFill>
                <a:latin typeface="PingFang SC"/>
              </a:rPr>
              <a:t>不得前往酒店附近海滩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4215384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C7392F"/>
                </a:solidFill>
                <a:latin typeface="PingFang SC"/>
              </a:rPr>
              <a:t>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05672" y="4197096"/>
            <a:ext cx="21671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11111"/>
                </a:solidFill>
                <a:latin typeface="PingFang SC"/>
              </a:rPr>
              <a:t>跟随团队统一行动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4562856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C7392F"/>
                </a:solidFill>
                <a:latin typeface="PingFang SC"/>
              </a:rPr>
              <a:t>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05672" y="4544568"/>
            <a:ext cx="21671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11111"/>
                </a:solidFill>
                <a:latin typeface="PingFang SC"/>
              </a:rPr>
              <a:t>异常情况立即联系老师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55555"/>
                </a:solidFill>
                <a:latin typeface="PingFang SC"/>
              </a:rPr>
              <a:t>赛场纪律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743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55555"/>
                </a:solidFill>
                <a:latin typeface="PingFang SC"/>
              </a:rPr>
              <a:t>16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21792"/>
            <a:ext cx="11292840" cy="5486"/>
          </a:xfrm>
          <a:prstGeom prst="rect">
            <a:avLst/>
          </a:prstGeom>
          <a:solidFill>
            <a:srgbClr val="C5C8CE"/>
          </a:solidFill>
          <a:ln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111"/>
                </a:solidFill>
                <a:latin typeface="PingFang SC"/>
              </a:rPr>
              <a:t>延世大学赛场规则很具体：鞋、饮食、垃圾、设备和吸烟都要遵守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828800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PingFang SC"/>
              </a:rPr>
              <a:t>违规可能导致罚款、带离会场或事后追加处理。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35"/>
                </a:solidFill>
                <a:latin typeface="PingFang SC"/>
              </a:rP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2496312"/>
            <a:ext cx="99852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111"/>
                </a:solidFill>
                <a:latin typeface="PingFang SC"/>
              </a:rPr>
              <a:t>只能穿运动鞋入场，不能穿有钉鞋、高跟鞋等。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35"/>
                </a:solidFill>
                <a:latin typeface="PingFang SC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2953512"/>
            <a:ext cx="99852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111"/>
                </a:solidFill>
                <a:latin typeface="PingFang SC"/>
              </a:rPr>
              <a:t>场馆内只能带水，不能带任何有色饮料和食物，不能在场内进食。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29000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35"/>
                </a:solidFill>
                <a:latin typeface="PingFang SC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3410712"/>
            <a:ext cx="99852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111"/>
                </a:solidFill>
                <a:latin typeface="PingFang SC"/>
              </a:rPr>
              <a:t>校园内除饭堂和宿舍外，其他地方不能进食。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35"/>
                </a:solidFill>
                <a:latin typeface="PingFang SC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867912"/>
            <a:ext cx="99852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111"/>
                </a:solidFill>
                <a:latin typeface="PingFang SC"/>
              </a:rPr>
              <a:t>个人垃圾必须自行清理，离场时个人物品全部带走。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43400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35"/>
                </a:solidFill>
                <a:latin typeface="PingFang SC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4325112"/>
            <a:ext cx="99852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111"/>
                </a:solidFill>
                <a:latin typeface="PingFang SC"/>
              </a:rPr>
              <a:t>自带设备不能损坏地板、灯光、电梯、场地设施等，损坏需赔偿。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00600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35"/>
                </a:solidFill>
                <a:latin typeface="PingFang SC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4782312"/>
            <a:ext cx="99852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11111"/>
                </a:solidFill>
                <a:latin typeface="PingFang SC"/>
              </a:rPr>
              <a:t>学校内及其他室内环境禁止吸烟，吸烟必须在指定场所。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55555"/>
                </a:solidFill>
                <a:latin typeface="PingFang SC"/>
              </a:rPr>
              <a:t>用餐安全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743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55555"/>
                </a:solidFill>
                <a:latin typeface="PingFang SC"/>
              </a:rPr>
              <a:t>17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21792"/>
            <a:ext cx="11292840" cy="5486"/>
          </a:xfrm>
          <a:prstGeom prst="rect">
            <a:avLst/>
          </a:prstGeom>
          <a:solidFill>
            <a:srgbClr val="C5C8CE"/>
          </a:solidFill>
          <a:ln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111"/>
                </a:solidFill>
                <a:latin typeface="PingFang SC"/>
              </a:rPr>
              <a:t>特色餐好吃，也要注意烫伤和用餐秩序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828800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PingFang SC"/>
              </a:rPr>
              <a:t>人参鸡、韩式烤肉、铁板烤鸡等餐食会涉及热汤、铁锅和烤盘。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788920"/>
            <a:ext cx="3108960" cy="2194560"/>
          </a:xfrm>
          <a:prstGeom prst="rect">
            <a:avLst/>
          </a:prstGeom>
          <a:solidFill>
            <a:srgbClr val="F6F7F9"/>
          </a:solidFill>
          <a:ln w="10160"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31546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7392F"/>
                </a:solidFill>
                <a:latin typeface="PingFang SC"/>
              </a:rPr>
              <a:t>热汤热锅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8862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PingFang SC"/>
              </a:rPr>
              <a:t>不抢夹、不伸手越过烤盘，不随意触碰铁锅、烤盘和加热区域。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2788920"/>
            <a:ext cx="3108960" cy="2194560"/>
          </a:xfrm>
          <a:prstGeom prst="rect">
            <a:avLst/>
          </a:prstGeom>
          <a:solidFill>
            <a:srgbClr val="F6F7F9"/>
          </a:solidFill>
          <a:ln w="10160"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31546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2313F"/>
                </a:solidFill>
                <a:latin typeface="PingFang SC"/>
              </a:rPr>
              <a:t>饮食适应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8862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PingFang SC"/>
              </a:rPr>
              <a:t>如有过敏、忌口、肠胃不适或特殊饮食要求，请提前告诉老师。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6759" y="2788920"/>
            <a:ext cx="3108960" cy="2194560"/>
          </a:xfrm>
          <a:prstGeom prst="rect">
            <a:avLst/>
          </a:prstGeom>
          <a:solidFill>
            <a:srgbClr val="F6F7F9"/>
          </a:solidFill>
          <a:ln w="10160"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39" y="31546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895A"/>
                </a:solidFill>
                <a:latin typeface="PingFang SC"/>
              </a:rPr>
              <a:t>团队秩序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39" y="38862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PingFang SC"/>
              </a:rPr>
              <a:t>统一入座、听从安排，不私自离桌，不在餐厅追逐打闹。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55555"/>
                </a:solidFill>
                <a:latin typeface="PingFang SC"/>
              </a:rPr>
              <a:t>安全告知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743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55555"/>
                </a:solidFill>
                <a:latin typeface="PingFang SC"/>
              </a:rPr>
              <a:t>18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21792"/>
            <a:ext cx="11292840" cy="5486"/>
          </a:xfrm>
          <a:prstGeom prst="rect">
            <a:avLst/>
          </a:prstGeom>
          <a:solidFill>
            <a:srgbClr val="C5C8CE"/>
          </a:solidFill>
          <a:ln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111"/>
                </a:solidFill>
                <a:latin typeface="PingFang SC"/>
              </a:rPr>
              <a:t>安全协议里的家长责任，会中要讲透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828800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PingFang SC"/>
              </a:rPr>
              <a:t>组织方会做组织管理、提醒和应急协助；家长也要提前告知真实情况。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FF6B35"/>
                </a:solidFill>
                <a:latin typeface="PingFang SC"/>
              </a:rP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2404872"/>
            <a:ext cx="99852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111111"/>
                </a:solidFill>
                <a:latin typeface="PingFang SC"/>
              </a:rPr>
              <a:t>学生须服从带队老师、领队和工作人员统一安排，不得擅自单独活动。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FF6B35"/>
                </a:solidFill>
                <a:latin typeface="PingFang SC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2862072"/>
            <a:ext cx="99852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111111"/>
                </a:solidFill>
                <a:latin typeface="PingFang SC"/>
              </a:rPr>
              <a:t>如有过敏、疾病、用药、心理或行为风险等重要情况，家长必须提前告知。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37560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FF6B35"/>
                </a:solidFill>
                <a:latin typeface="PingFang SC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3319272"/>
            <a:ext cx="99852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111111"/>
                </a:solidFill>
                <a:latin typeface="PingFang SC"/>
              </a:rPr>
              <a:t>护照、现金、手机、相机、电脑、电话手表等贵重物品要自行妥善保管。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94760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FF6B35"/>
                </a:solidFill>
                <a:latin typeface="PingFang SC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" y="3776472"/>
            <a:ext cx="99852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111111"/>
                </a:solidFill>
                <a:latin typeface="PingFang SC"/>
              </a:rPr>
              <a:t>资料提交需真实、完整、有效；因资料问题导致无法签证、出票、报名或出入境，由家庭自行承担后果。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251960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FF6B35"/>
                </a:solidFill>
                <a:latin typeface="PingFang SC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" y="4233672"/>
            <a:ext cx="99852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111111"/>
                </a:solidFill>
                <a:latin typeface="PingFang SC"/>
              </a:rPr>
              <a:t>组织方不承诺具体竞赛成绩、证书等级、评奖结果或第三方评价结果。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55555"/>
                </a:solidFill>
                <a:latin typeface="PingFang SC"/>
              </a:rPr>
              <a:t>家长配合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743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55555"/>
                </a:solidFill>
                <a:latin typeface="PingFang SC"/>
              </a:rPr>
              <a:t>19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21792"/>
            <a:ext cx="11292840" cy="5486"/>
          </a:xfrm>
          <a:prstGeom prst="rect">
            <a:avLst/>
          </a:prstGeom>
          <a:solidFill>
            <a:srgbClr val="C5C8CE"/>
          </a:solidFill>
          <a:ln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111"/>
                </a:solidFill>
                <a:latin typeface="PingFang SC"/>
              </a:rPr>
              <a:t>家长配合越早，出发当天越稳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828800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PingFang SC"/>
              </a:rPr>
              <a:t>这几项请在会后 24 小时内完成或确认。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502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PingFang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2359152"/>
            <a:ext cx="96743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PingFang SC"/>
              </a:rPr>
              <a:t>完成资料自查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2633472"/>
            <a:ext cx="96743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5555"/>
                </a:solidFill>
                <a:latin typeface="PingFang SC"/>
              </a:rPr>
              <a:t>按清单检查原件、纸质件、二维码、同意函，缺项及时反馈。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81328" y="2889504"/>
            <a:ext cx="9674352" cy="3657"/>
          </a:xfrm>
          <a:prstGeom prst="rect">
            <a:avLst/>
          </a:prstGeom>
          <a:solidFill>
            <a:srgbClr val="C5C8CE"/>
          </a:solidFill>
          <a:ln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962656"/>
            <a:ext cx="502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PingFang S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944368"/>
            <a:ext cx="96743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PingFang SC"/>
              </a:rPr>
              <a:t>和孩子确认纪律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218688"/>
            <a:ext cx="96743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5555"/>
                </a:solidFill>
                <a:latin typeface="PingFang SC"/>
              </a:rPr>
              <a:t>重点讲清不私自离队、不去海滩、赛场只带水、贵重物品随身。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81328" y="3474720"/>
            <a:ext cx="9674352" cy="3657"/>
          </a:xfrm>
          <a:prstGeom prst="rect">
            <a:avLst/>
          </a:prstGeom>
          <a:solidFill>
            <a:srgbClr val="C5C8CE"/>
          </a:solidFill>
          <a:ln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547872"/>
            <a:ext cx="502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PingFang S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529584"/>
            <a:ext cx="96743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PingFang SC"/>
              </a:rPr>
              <a:t>同步特殊情况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803904"/>
            <a:ext cx="96743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5555"/>
                </a:solidFill>
                <a:latin typeface="PingFang SC"/>
              </a:rPr>
              <a:t>过敏、疾病、用药、晕车、饮食禁忌、证件异常等提前告知老师。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81328" y="4059935"/>
            <a:ext cx="9674352" cy="3657"/>
          </a:xfrm>
          <a:prstGeom prst="rect">
            <a:avLst/>
          </a:prstGeom>
          <a:solidFill>
            <a:srgbClr val="C5C8CE"/>
          </a:solidFill>
          <a:ln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133087"/>
            <a:ext cx="502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PingFang S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4114800"/>
            <a:ext cx="96743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PingFang SC"/>
              </a:rPr>
              <a:t>支持比赛节奏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89120"/>
            <a:ext cx="96743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5555"/>
                </a:solidFill>
                <a:latin typeface="PingFang SC"/>
              </a:rPr>
              <a:t>家长少做临场指挥，把问题统一交给带队老师和队伍负责人处理。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81328" y="4645151"/>
            <a:ext cx="9674352" cy="3657"/>
          </a:xfrm>
          <a:prstGeom prst="rect">
            <a:avLst/>
          </a:prstGeom>
          <a:solidFill>
            <a:srgbClr val="C5C8CE"/>
          </a:solidFill>
          <a:ln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718304"/>
            <a:ext cx="502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PingFang SC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700016"/>
            <a:ext cx="96743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PingFang SC"/>
              </a:rPr>
              <a:t>保持联络畅通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974336"/>
            <a:ext cx="96743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5555"/>
                </a:solidFill>
                <a:latin typeface="PingFang SC"/>
              </a:rPr>
              <a:t>出行期间关注群通知，紧急情况第一时间联系带队老师或后勤联系人。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55555"/>
                </a:solidFill>
                <a:latin typeface="PingFang SC"/>
              </a:rPr>
              <a:t>最后确认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2743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55555"/>
                </a:solidFill>
                <a:latin typeface="PingFang SC"/>
              </a:rPr>
              <a:t>20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21792"/>
            <a:ext cx="11292840" cy="5486"/>
          </a:xfrm>
          <a:prstGeom prst="rect">
            <a:avLst/>
          </a:prstGeom>
          <a:solidFill>
            <a:srgbClr val="C5C8CE"/>
          </a:solidFill>
          <a:ln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111"/>
                </a:solidFill>
                <a:latin typeface="PingFang SC"/>
              </a:rPr>
              <a:t>会后请按这张清单完成最后确认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828800"/>
            <a:ext cx="9784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PingFang SC"/>
              </a:rPr>
              <a:t>资料、设备、比赛、安全四类都确认，才算准备完成。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97480"/>
            <a:ext cx="2286000" cy="2514600"/>
          </a:xfrm>
          <a:prstGeom prst="rect">
            <a:avLst/>
          </a:prstGeom>
          <a:solidFill>
            <a:srgbClr val="F6F7F9"/>
          </a:solidFill>
          <a:ln w="10160"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971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11111"/>
                </a:solidFill>
                <a:latin typeface="PingFang SC"/>
              </a:rPr>
              <a:t>资料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657600"/>
            <a:ext cx="1645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313F"/>
                </a:solidFill>
                <a:latin typeface="PingFang SC"/>
              </a:rPr>
              <a:t>护照/身份证
机票单/签证页
报名表
同意函
入境申报码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39" y="2697480"/>
            <a:ext cx="2286000" cy="2514600"/>
          </a:xfrm>
          <a:prstGeom prst="rect">
            <a:avLst/>
          </a:prstGeom>
          <a:solidFill>
            <a:srgbClr val="F6F7F9"/>
          </a:solidFill>
          <a:ln w="10160"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79" y="2971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11111"/>
                </a:solidFill>
                <a:latin typeface="PingFang SC"/>
              </a:rPr>
              <a:t>设备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79" y="3657600"/>
            <a:ext cx="1645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313F"/>
                </a:solidFill>
                <a:latin typeface="PingFang SC"/>
              </a:rPr>
              <a:t>机器人与零件
比赛电池分散携带
充电器/线材
工具按规定处理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59" y="2697480"/>
            <a:ext cx="2286000" cy="2514600"/>
          </a:xfrm>
          <a:prstGeom prst="rect">
            <a:avLst/>
          </a:prstGeom>
          <a:solidFill>
            <a:srgbClr val="F6F7F9"/>
          </a:solidFill>
          <a:ln w="10160">
            <a:solidFill>
              <a:srgbClr val="C5C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399" y="2971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11111"/>
                </a:solidFill>
                <a:latin typeface="PingFang SC"/>
              </a:rPr>
              <a:t>比赛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399" y="3657600"/>
            <a:ext cx="1645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313F"/>
                </a:solidFill>
                <a:latin typeface="PingFang SC"/>
              </a:rPr>
              <a:t>规则阅读
工程笔记
面试表达
赛前检查
现场复盘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2697480"/>
            <a:ext cx="2286000" cy="2514600"/>
          </a:xfrm>
          <a:prstGeom prst="rect">
            <a:avLst/>
          </a:prstGeom>
          <a:solidFill>
            <a:srgbClr val="FFF0EA"/>
          </a:solidFill>
          <a:ln w="1016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19" y="2971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7392F"/>
                </a:solidFill>
                <a:latin typeface="PingFang SC"/>
              </a:rPr>
              <a:t>安全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19" y="3657600"/>
            <a:ext cx="1645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313F"/>
                </a:solidFill>
                <a:latin typeface="PingFang SC"/>
              </a:rPr>
              <a:t>不私自离队
不前往海滩
赛场只带水
用餐注意热锅
贵重物品保管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71500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PingFang SC"/>
              </a:rPr>
              <a:t>接下来：统一答疑，请大家优先提和证件、航班、设备、规则、安全相关的问题。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